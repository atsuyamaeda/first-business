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B42"/>
            </a:gs>
            <a:gs pos="100000">
              <a:srgbClr val="05091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00952" y="-1710000"/>
            <a:ext cx="6840000" cy="6840000"/>
          </a:xfrm>
          <a:prstGeom prst="ellipse">
            <a:avLst/>
          </a:prstGeom>
          <a:solidFill>
            <a:srgbClr val="0B2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90000" y="4482000"/>
            <a:ext cx="3960000" cy="3960000"/>
          </a:xfrm>
          <a:prstGeom prst="ellipse">
            <a:avLst/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360000"/>
            <a:ext cx="1008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Hiragino Sans"/>
              </a:rPr>
              <a:t>[COMPANY]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404000"/>
            <a:ext cx="93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DB86A"/>
                </a:solidFill>
                <a:latin typeface="Hiragino Sans"/>
              </a:rPr>
              <a:t>The Nespresso of Matcha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872000"/>
            <a:ext cx="7920000" cy="216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980000"/>
            <a:ext cx="97200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5B5"/>
                </a:solidFill>
                <a:latin typeface="Hiragino Sans"/>
              </a:rPr>
              <a:t>シードラウンド  ·  $3,000,000  ·  機密
2026年3月
「800年前、禅僧が『養生の仙薬』と記した。
 2024年、科学がそれを証明した。
 3,000万台のNespressoマシンで、30秒で。」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8460000" y="5940000"/>
            <a:ext cx="3528000" cy="306000"/>
          </a:xfrm>
          <a:prstGeom prst="rect">
            <a:avLst/>
          </a:prstGeom>
          <a:solidFill>
            <a:srgbClr val="143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2000" y="5968799"/>
            <a:ext cx="3384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DB86A"/>
                </a:solidFill>
                <a:latin typeface="Hiragino Sans"/>
              </a:rPr>
              <a:t>SEED ROUND  ·  $3,000,000  ·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95B5"/>
                </a:solidFill>
                <a:latin typeface="Hiragino Sans"/>
              </a:rPr>
              <a:t>1 / 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000" y="6660000"/>
            <a:ext cx="6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5B5"/>
                </a:solidFill>
                <a:latin typeface="Hiragino Sans"/>
              </a:rPr>
              <a:t>[COMPANY]  ·  Confidential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INVESTMENT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1文で伝える投資機会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2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90000"/>
            <a:ext cx="79200" cy="34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" y="1008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47"/>
                </a:solidFill>
                <a:latin typeface="Hiragino Sans"/>
              </a:rPr>
              <a:t>[COMPANY]は、北米3,000万台以上のNespressoオーナー向けに
世界初の日本産セレモニアル抹茶サブスクリプションを構築する。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22000"/>
            <a:ext cx="11520000" cy="50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① カテゴリの転換、トレンドではない — 「抹茶 vs コーヒー」検索数：+300〜500%（2020年〜）
② 市場は壊れており、私たちが修復する — $6の粗悪品 vs $30+の高嶺の花。準備の手間が初回購入者の70%を30日以内に失わせる
③ 成功モデルが実証済み — PerfectTed（英国）はNespresso対応抹茶ポッドで4年間CAGR 532%、£140Mバリュエーションを達成。彼らは英国のみ。北米は競合ゼロ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PROBLEM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米国人の68%がコーヒー不安・クラッシュを経験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3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3792000" cy="2015999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000" y="990000"/>
            <a:ext cx="3792000" cy="7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DB86A"/>
                </a:solidFill>
                <a:latin typeface="Hiragino Sans"/>
              </a:rPr>
              <a:t>68%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コーヒー起因の不安を定期的に経験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52000" y="990000"/>
            <a:ext cx="3792000" cy="2015999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52000" y="990000"/>
            <a:ext cx="3792000" cy="72000"/>
          </a:xfrm>
          <a:prstGeom prst="rect">
            <a:avLst/>
          </a:prstGeom>
          <a:solidFill>
            <a:srgbClr val="21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2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163D0"/>
                </a:solidFill>
                <a:latin typeface="Hiragino Sans"/>
              </a:rPr>
              <a:t>45%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コーヒーの代替を積極探索中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6000" y="990000"/>
            <a:ext cx="3792000" cy="201599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6000" y="990000"/>
            <a:ext cx="3792000" cy="72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6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0B429"/>
                </a:solidFill>
                <a:latin typeface="Hiragino Sans"/>
              </a:rPr>
              <a:t>39%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8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Z世代がコーヒーを削減・断絶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" y="3149999"/>
            <a:ext cx="11520000" cy="334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消費者はカフェインを捨てない — より良いカフェインを求めている
Z世代：TikTokで健康意識を持って育った初の世代
コーヒーから抹茶へ「移行」するのではなく、コーヒーを「スキップ」している
TikTok #matcha：約480億回再生 — 世界最大の食品・飲料カテゴリ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PROBLEM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抹茶は答え — しかし市場は構造的に崩壊している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4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90000"/>
            <a:ext cx="79200" cy="34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" y="1008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47"/>
                </a:solidFill>
                <a:latin typeface="Hiragino Sans"/>
              </a:rPr>
              <a:t>科学的に証明された「穏やかな覚醒」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22000"/>
            <a:ext cx="11520000" cy="50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L-テアニン（36〜50mg/杯）：40分以内にα波増加 → 「穏やかな集中」（Mason, 2001）
EGCG：通常緑茶ティーバッグの137倍の抗酸化物質（Weiss &amp; Anderton, 2003）
2024年 PLOS ONE RCT（99名・12ヶ月）：認知機能の有意改善（p=0.028）
【市場の3大崩壊】
① 価格のミッシングミドル：$6のゴミ vs $30+の高嶺の花（$15〜20の品質デイリー粉末が存在しない）
② 準備の壁：茶筅・特定温度・茶こし・抹茶碗が必要 → 初回購入者の70%が30日で離脱
③ 品質の信頼危機：『セレモニアルグレード』は無規制のマーケティング用語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PROBLEM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準備の複雑さが市場拡大の最大障壁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5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3792000" cy="2015999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000" y="990000"/>
            <a:ext cx="3792000" cy="7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DB86A"/>
                </a:solidFill>
                <a:latin typeface="Hiragino Sans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初回購入者が30日以内に再購入しない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52000" y="990000"/>
            <a:ext cx="3792000" cy="2015999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52000" y="990000"/>
            <a:ext cx="3792000" cy="72000"/>
          </a:xfrm>
          <a:prstGeom prst="rect">
            <a:avLst/>
          </a:prstGeom>
          <a:solidFill>
            <a:srgbClr val="21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2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163D0"/>
                </a:solidFill>
                <a:latin typeface="Hiragino Sans"/>
              </a:rPr>
              <a:t>7.3%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Amazonネガティブレビューでダマ問題を言及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6000" y="990000"/>
            <a:ext cx="3792000" cy="201599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6000" y="990000"/>
            <a:ext cx="3792000" cy="72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6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0B429"/>
                </a:solidFill>
                <a:latin typeface="Hiragino Sans"/>
              </a:rPr>
              <a:t>37.4%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8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価格不満（$6ゴミ vs $30+高嶺）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" y="3149999"/>
            <a:ext cx="11520000" cy="334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最も多い消費者の叫び：『自宅でカフェクオリティの抹茶を、手間なく飲みたい』
現在の代替手段：電動ミルクフォーマー、シェイカーボトル、ブレンダー — すべて妥協の産物
消費者は解決策にお金を払う意思がある（Pique: $2.43/杯でも売れている）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日本産セレモニアル抹茶 × Nespresso対応ポッド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6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90000"/>
            <a:ext cx="79200" cy="34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" y="1008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47"/>
                </a:solidFill>
                <a:latin typeface="Hiragino Sans"/>
              </a:rPr>
              <a:t>ボタンを押すだけ → 30秒で完璧な抹茶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22000"/>
            <a:ext cx="11520000" cy="50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✓  既存のNespressoマシンで動作（新規ハードウェア不要）
✓  ダマなし・道具不要・完璧な温度管理
✓  日本の農家から直接調達した認定セレモニアルグレード
✓  窒素封入個包装 → 1杯分ずつ鮮度保証
✓  QRコードで農園・収穫日・茶師の認定を確認可能
Nespressoが1億人のコーヒー愛好家に革命を起こしたように、
[COMPANY]は抹茶を30秒の日常習慣へ変革する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3ステップで完成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7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0" y="2700000"/>
            <a:ext cx="9180000" cy="216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8000" y="1872000"/>
            <a:ext cx="1080000" cy="1080000"/>
          </a:xfrm>
          <a:prstGeom prst="ellipse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8000" y="1980000"/>
            <a:ext cx="108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00" y="2988000"/>
            <a:ext cx="368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B86A"/>
                </a:solidFill>
                <a:latin typeface="Hiragino Sans"/>
              </a:rPr>
              <a:t>STEP 1
サブスク申込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000" y="3780000"/>
            <a:ext cx="3684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Hiragino Sans"/>
              </a:rPr>
              <a:t>毎月ポッドをお届け
配送料無料・いつでも一時停止可</a:t>
            </a:r>
          </a:p>
        </p:txBody>
      </p:sp>
      <p:sp>
        <p:nvSpPr>
          <p:cNvPr id="15" name="Oval 14"/>
          <p:cNvSpPr/>
          <p:nvPr/>
        </p:nvSpPr>
        <p:spPr>
          <a:xfrm>
            <a:off x="5508000" y="1872000"/>
            <a:ext cx="1080000" cy="1080000"/>
          </a:xfrm>
          <a:prstGeom prst="ellipse">
            <a:avLst/>
          </a:prstGeom>
          <a:solidFill>
            <a:srgbClr val="21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8000" y="1980000"/>
            <a:ext cx="108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000" y="2988000"/>
            <a:ext cx="368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63D0"/>
                </a:solidFill>
                <a:latin typeface="Hiragino Sans"/>
              </a:rPr>
              <a:t>STEP 2
ポッドを挿入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000" y="3780000"/>
            <a:ext cx="3684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Hiragino Sans"/>
              </a:rPr>
              <a:t>既存のNespresso
または互換機に装着</a:t>
            </a:r>
          </a:p>
        </p:txBody>
      </p:sp>
      <p:sp>
        <p:nvSpPr>
          <p:cNvPr id="19" name="Oval 18"/>
          <p:cNvSpPr/>
          <p:nvPr/>
        </p:nvSpPr>
        <p:spPr>
          <a:xfrm>
            <a:off x="9408000" y="1872000"/>
            <a:ext cx="1080000" cy="1080000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8000" y="1980000"/>
            <a:ext cx="108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6000" y="2988000"/>
            <a:ext cx="368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B429"/>
                </a:solidFill>
                <a:latin typeface="Hiragino Sans"/>
              </a:rPr>
              <a:t>STEP 3
30秒で完成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6000" y="3780000"/>
            <a:ext cx="3684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Hiragino Sans"/>
              </a:rPr>
              <a:t>完璧な温度・濃度の
本物の日本産抹茶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PRODUCT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プロダクトラインナップ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8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11700000" cy="1015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000" y="1026000"/>
            <a:ext cx="2817000" cy="96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SKU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5000" y="1026000"/>
            <a:ext cx="2817000" cy="96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0" y="1026000"/>
            <a:ext cx="2817000" cy="96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価格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5000" y="1026000"/>
            <a:ext cx="2817000" cy="96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ポジション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8000" y="2005200"/>
            <a:ext cx="11700000" cy="1015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8000" y="2005200"/>
            <a:ext cx="46800" cy="10152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000" y="20340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CEREMONIAL POD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5000" y="20340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宇治・京都産 セレモニアル  10ポッド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0" y="20340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5000" y="20340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最高品質・シングルオリジン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000" y="3020400"/>
            <a:ext cx="11700000" cy="101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0000" y="30492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DAILY POD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95000" y="30492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プレミアムグレード  10ポッド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0" y="30492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5000" y="30492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毎日使いのデイリードライバー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000" y="4035600"/>
            <a:ext cx="11700000" cy="1015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8000" y="4035600"/>
            <a:ext cx="46800" cy="10152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40644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POWDER+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95000" y="40644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産地明記 30g 粉末缶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0000" y="40644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5000" y="40644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ミッシングミドル埋め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000" y="5050800"/>
            <a:ext cx="11700000" cy="101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000" y="50796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FLAGSHIP BUNDLE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95000" y="50796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30ポッド + 30g 粉末  月次サブスク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0000" y="50796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$65/月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5000" y="50796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主力・最高 LTV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000" y="6120000"/>
            <a:ext cx="11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Hiragino Sans"/>
              </a:rPr>
              <a:t>※ ポッドが主力。粉末は入口商品として機能し、ポッドへの段階的誘導を設計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日本農家直送 → ポッドへ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9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90000"/>
            <a:ext cx="79200" cy="34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" y="1008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47"/>
                </a:solidFill>
                <a:latin typeface="Hiragino Sans"/>
              </a:rPr>
              <a:t>サプライチェーンが私たちの最大の競争優位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22000"/>
            <a:ext cx="11520000" cy="50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【調達先（目標）】
・宇治（京都）：800年の権威。最上位セレモニアルグレード
・西尾（愛知）：全国生産量1位（20〜30%シェア）。抹茶特化産地
・鹿児島：急成長の革新産地。鹿児島産 2024年荒茶生産量全国1位
・八女（福岡）：全国茶品評会玉露部門 18年連続産地賞
【製品品質】
・日本国内OEM製造 → 日本産の真正性を維持
・認定茶師（茶師）がバッチごとに品質確認
・ISO 20715:2023 準拠（2023年制定 国際抹茶標準）
・QRコード → ブロックチェーントレーサビリティ（農園〜ポッド）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市場規模：TAM / SAM / SOM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10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3792000" cy="2015999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000" y="990000"/>
            <a:ext cx="3792000" cy="7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DB86A"/>
                </a:solidFill>
                <a:latin typeface="Hiragino Sans"/>
              </a:rPr>
              <a:t>$4.3B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TAM 世界抹茶市場（2024年）→ $8.9B（2034年）CAGR 7.8%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52000" y="990000"/>
            <a:ext cx="3792000" cy="2015999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52000" y="990000"/>
            <a:ext cx="3792000" cy="72000"/>
          </a:xfrm>
          <a:prstGeom prst="rect">
            <a:avLst/>
          </a:prstGeom>
          <a:solidFill>
            <a:srgbClr val="21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2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163D0"/>
                </a:solidFill>
                <a:latin typeface="Hiragino Sans"/>
              </a:rPr>
              <a:t>$1.4B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SAM 北米＋英国プレミアム抹茶市場  CAGR 11%（最速成長地域）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6000" y="990000"/>
            <a:ext cx="3792000" cy="201599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6000" y="990000"/>
            <a:ext cx="3792000" cy="72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6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0B429"/>
                </a:solidFill>
                <a:latin typeface="Hiragino Sans"/>
              </a:rPr>
              <a:t>$280M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8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SOM プレミアム抹茶サブスク（ポッド＋品質粉末）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" y="3149999"/>
            <a:ext cx="11520000" cy="334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Year 3 目標：$14M ARR = SOM の 5% 獲得
Nespresso対応カプセル市場：$6B+（抹茶ポッドはほぼ空白）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抹茶モーメント：ティッピングポイントを超えた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11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90000"/>
            <a:ext cx="79200" cy="34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" y="1008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47"/>
                </a:solidFill>
                <a:latin typeface="Hiragino Sans"/>
              </a:rPr>
              <a:t>これはトレンドではなく、カテゴリシフトである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22000"/>
            <a:ext cx="11520000" cy="50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「matcha」Google検索：+292〜520%（2020年〜2025年）
「matcha vs coffee」検索：+300〜500%（全カテゴリ最速）
TikTok #matcha：約480億回再生
米国小売抹茶販売：3年間で86%増（NielsenIQ）
McDonald's オーストラリア：2025年10月 全国的に抹茶ライン投入
Starbucks 2025：抹茶製品をリニューアル（メインストリーム統合）
米国レストランの5.71%（213,996店）が抹茶メニュー提供（前年比+30%）
→ インフラを持つ者が勝つ。今が参入の最後のウィンドウ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OUR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供給危機 = 私たちの競争優位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12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90000"/>
            <a:ext cx="79200" cy="34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" y="1008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47"/>
                </a:solidFill>
                <a:latin typeface="Hiragino Sans"/>
              </a:rPr>
              <a:t>京都の碾茶価格：1年で +265%（2024→2025）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22000"/>
            <a:ext cx="11520000" cy="50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一保堂（創業1717年）：2024年10月 抹茶全販売を一時停止
丸久小山園：新規卸売顧客の受付を停止
米国卸売リードタイム：1〜2ヶ月 → 6ヶ月に延長
「抹茶転売ヤー」が二次市場で初めて出現
【なぜこの危機は長期化するか】
・日本の茶農家人口：2010年以降 40%減少（高齢化・後継者不足）
・新茶畑の成熟：5年かかる → 供給は需要に追いつけない
・茶農家の平均年齢：67歳以上（構造的問題）
【結論】今すぐサプライチェーン関係を築いた者が、次の10年を制する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TARGET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ターゲット顧客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13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90000"/>
            <a:ext cx="79200" cy="34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" y="1008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47"/>
                </a:solidFill>
                <a:latin typeface="Hiragino Sans"/>
              </a:rPr>
              <a:t>プライマリ：アッパーミドル・25〜40歳・都市部プロフェッショナル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22000"/>
            <a:ext cx="11520000" cy="50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【プライマリ層の特徴】
・世帯年収 $80K+。Nespressoマシンを既に所有（米国だけで3,000万台以上）
・健康志向だが時間がない。コーヒーに$8〜15/日を既に支出
・新規ハードウェアゼロ。ゼロの学習コスト
【セカンダリ層の特徴】
・健康意識の高いZ世代（25〜35歳）コーヒー離れ世代
・Z世代の62%が抹茶を「集中力・認知機能向上」と関連付け
・TikTok/Instagramで抹茶を発見し、準備方法に圧倒されている
・41%がソーシャルアプリを主要検索エンジンとして使用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CONSUMER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3つの消費者セグメント、1つのソリューション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14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3792000" cy="5436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000" y="990000"/>
            <a:ext cx="3792000" cy="827999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000" y="1062000"/>
            <a:ext cx="3648000" cy="7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Sans"/>
              </a:rPr>
              <a:t>DAILY DRINKERS
市場の60%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00" y="1907999"/>
            <a:ext cx="3612000" cy="442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自宅でバリスタ品質を
手間なく飲みたい
→ ポッドが完全解決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52000" y="990000"/>
            <a:ext cx="3792000" cy="543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52000" y="990000"/>
            <a:ext cx="3792000" cy="827999"/>
          </a:xfrm>
          <a:prstGeom prst="rect">
            <a:avLst/>
          </a:prstGeom>
          <a:solidFill>
            <a:srgbClr val="21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000" y="1062000"/>
            <a:ext cx="3648000" cy="7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Sans"/>
              </a:rPr>
              <a:t>NEWCOMERS
市場の25%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0000" y="1907999"/>
            <a:ext cx="3612000" cy="442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TikTokで抹茶を発見
準備方法に圧倒されている
→ ポッドは完璧な入口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6000" y="990000"/>
            <a:ext cx="3792000" cy="5436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6000" y="990000"/>
            <a:ext cx="3792000" cy="827999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8000" y="1062000"/>
            <a:ext cx="3648000" cy="7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Sans"/>
              </a:rPr>
              <a:t>PURISTS
市場の15%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4000" y="1907999"/>
            <a:ext cx="3612000" cy="442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日本産を既に購入済み
プレミアムな便利さを求める
→ 農園ストーリーで満足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UNMET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解決する5つの未充足ニーズ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15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11700000" cy="894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000" y="1026000"/>
            <a:ext cx="3792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0000" y="1026000"/>
            <a:ext cx="3792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消費者の課題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0000" y="1026000"/>
            <a:ext cx="3792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私たちの解決策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000" y="1884000"/>
            <a:ext cx="11700000" cy="894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8000" y="1884000"/>
            <a:ext cx="46800" cy="89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000" y="1912800"/>
            <a:ext cx="3792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0000" y="1912800"/>
            <a:ext cx="3792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準備が複雑すぎる（道具・温度・技術）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0000" y="1912800"/>
            <a:ext cx="3792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ポッド = 30秒・道具不要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000" y="2778000"/>
            <a:ext cx="11700000" cy="8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2806800"/>
            <a:ext cx="3792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0000" y="2806800"/>
            <a:ext cx="3792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$6品質ゴミ vs $30+高嶺の花（ミッシングミドル）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0000" y="2806800"/>
            <a:ext cx="3792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POWDER+ $18/30g で埋める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000" y="3672000"/>
            <a:ext cx="11700000" cy="894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8000" y="3672000"/>
            <a:ext cx="46800" cy="89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000" y="3700800"/>
            <a:ext cx="3792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0000" y="3700800"/>
            <a:ext cx="3792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「セレモニアルグレード」は無規制で信頼できない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0000" y="3700800"/>
            <a:ext cx="3792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ISO認証＋農園QRトレーサビリティ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8000" y="4566000"/>
            <a:ext cx="11700000" cy="8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000" y="4594800"/>
            <a:ext cx="3792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0000" y="4594800"/>
            <a:ext cx="3792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開封後4〜8週間で鮮度劣化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0000" y="4594800"/>
            <a:ext cx="3792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窒素封入個包装 = 1杯分ずつ新鮮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000" y="5460000"/>
            <a:ext cx="11700000" cy="894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8000" y="5460000"/>
            <a:ext cx="46800" cy="89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" y="5488800"/>
            <a:ext cx="3792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70000" y="5488800"/>
            <a:ext cx="3792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サブスクが解約できない罠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0000" y="5488800"/>
            <a:ext cx="3792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いつでも一時停止・解約・スキップ可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PerfectTed：このモデルが機能することの証明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16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90000"/>
            <a:ext cx="79200" cy="34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" y="1008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47"/>
                </a:solidFill>
                <a:latin typeface="Hiragino Sans"/>
              </a:rPr>
              <a:t>英国で全く同じモデルを4年間で CAGR 532% 達成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22000"/>
            <a:ext cx="11520000" cy="50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2021年創業。自己資金：£250K + 家族融資 £125K
製品：Nespresso対応抹茶ポッド ＋ RTDスパークリング缶
売上：£8.2M（2024年実績）→ £30M（2025年予測）
バリュエーション：£140M（2025年）
小売：Tesco 1,200店舗・Sainsbury's・Waitrose
B2B：売上の60%（Caffe Nero・Joe &amp; The Juice等）
流通：50カ国 30,000+拠点
投資家：Steven Bartlett（Dragons' Den）
最重要インサイト：彼らは英国のみ。
北米には対抗できる競合が存在しない。
私たちは日本産調達の優位性を持つ北米版PerfectTedを構築する。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競合ポジショニングマップ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17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90000"/>
            <a:ext cx="79200" cy="34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" y="1008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47"/>
                </a:solidFill>
                <a:latin typeface="Hiragino Sans"/>
              </a:rPr>
              <a:t>品質（縦軸）× 利便性（横軸）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22000"/>
            <a:ext cx="11520000" cy="50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【左上】高品質 × 低利便性
  → 一保堂（品質最高、ポッドなし、在庫切れ常態化）
【右下】低品質 × 中利便性
  → Jade Leaf / Chamberlain Coffee（Amazon流通あり、品質に課題）
【左下】低品質 × 低利便性
  → Amazon汎用品（低品質、消費者の信頼なし）
【右上】高品質 × 高利便性 ← 私たちのポジション（ホワイトスペース）
  → PerfectTedは右上に存在するが英国のみ
  → [COMPANY]は北米でこのポジションを独占する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COMPETITIVE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競合詳細比較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18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11700000" cy="72514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000" y="1026000"/>
            <a:ext cx="1563428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ブランド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1428" y="1026000"/>
            <a:ext cx="1563428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日本産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2857" y="1026000"/>
            <a:ext cx="1563428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ポッド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4285" y="1026000"/>
            <a:ext cx="1563428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サブスク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5714" y="1026000"/>
            <a:ext cx="1563428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価格/杯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7142" y="1026000"/>
            <a:ext cx="1563428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北米展開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98571" y="1026000"/>
            <a:ext cx="1563428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農園透明性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8000" y="1715142"/>
            <a:ext cx="11700000" cy="72514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8000" y="1715142"/>
            <a:ext cx="46800" cy="725142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743942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一保堂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41428" y="1743942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2857" y="1743942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4285" y="1743942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5714" y="1743942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$1.50+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7142" y="1743942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限定的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98571" y="1743942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8000" y="2440285"/>
            <a:ext cx="11700000" cy="72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2469085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Jade Leaf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1428" y="2469085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2857" y="2469085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4285" y="2469085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5714" y="2469085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$0.67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7142" y="2469085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98571" y="2469085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000" y="3165428"/>
            <a:ext cx="11700000" cy="72514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8000" y="3165428"/>
            <a:ext cx="46800" cy="725142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" y="3194228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PerfectTed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1428" y="3194228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2857" y="3194228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4285" y="3194228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55714" y="3194228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$2.00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27142" y="3194228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英国のみ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98571" y="3194228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000" y="3890571"/>
            <a:ext cx="11700000" cy="72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" y="3919371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Chamberlain Coffee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1428" y="3919371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2857" y="3919371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84285" y="3919371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55714" y="3919371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$0.85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27142" y="3919371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98571" y="3919371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8000" y="4615714"/>
            <a:ext cx="11700000" cy="72514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98000" y="4615714"/>
            <a:ext cx="46800" cy="725142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" y="4644514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Cuzen Matcha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41428" y="4644514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12857" y="4644514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84285" y="4644514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55714" y="4644514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$1.00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27142" y="4644514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98571" y="4644514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△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8000" y="5340857"/>
            <a:ext cx="11700000" cy="72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0000" y="5369657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[COMPANY]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41428" y="5369657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✓✓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12857" y="5369657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84285" y="5369657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55714" y="5369657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$2.17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27142" y="5369657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98571" y="5369657"/>
            <a:ext cx="1563428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✓✓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8000" y="6120000"/>
            <a:ext cx="11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Hiragino Sans"/>
              </a:rPr>
              <a:t>※ [COMPANY]のみが全項目でチェック済み。北米唯一の高品質ポッドブランド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COMPARABLE COMPANIES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比較企業とバリュエーション実績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19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11700000" cy="72514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000" y="1026000"/>
            <a:ext cx="2232000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企業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0000" y="1026000"/>
            <a:ext cx="2232000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調達額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0000" y="1026000"/>
            <a:ext cx="2232000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売上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000" y="1026000"/>
            <a:ext cx="2232000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バリュエーション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0000" y="1026000"/>
            <a:ext cx="2232000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備考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8000" y="1715142"/>
            <a:ext cx="11700000" cy="72514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8000" y="1715142"/>
            <a:ext cx="46800" cy="725142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0000" y="1743942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PerfectTed（英）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10000" y="1743942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£9M+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0000" y="1743942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£8.2M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0000" y="1743942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£140M (17x rev)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0000" y="1743942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最重要コンプ。抹茶ポッドモデル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000" y="2440285"/>
            <a:ext cx="11700000" cy="72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2469085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Blank Street Coffee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10000" y="2469085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$135M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0000" y="2469085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$149M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0000" y="2469085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$500M (3.4x rev)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0000" y="2469085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抹茶が売上50%のカフェチェーン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000" y="3165428"/>
            <a:ext cx="11700000" cy="72514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8000" y="3165428"/>
            <a:ext cx="46800" cy="725142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0000" y="3194228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Jade Leaf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0000" y="3194228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PE買収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0000" y="3194228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~$10M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90000" y="3194228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3〜5x rev推定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0000" y="3194228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Amazon #1 → PE Exit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8000" y="3890571"/>
            <a:ext cx="11700000" cy="72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" y="3919371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RYZE Mushroom Coffee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0000" y="3919371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$9M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50000" y="3919371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$300M+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90000" y="3919371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未公開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0000" y="3919371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類似サブスク飲料。最重要参考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8000" y="4615714"/>
            <a:ext cx="11700000" cy="72514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8000" y="4615714"/>
            <a:ext cx="46800" cy="725142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4644514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AG1 (Athletic Green)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10000" y="4644514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$115M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0000" y="4644514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$600M+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90000" y="4644514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未公開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30000" y="4644514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プレミアムウェルネスサブスク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8000" y="5340857"/>
            <a:ext cx="11700000" cy="72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0000" y="5369657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Cuzen Matcha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10000" y="5369657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$6.8M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0000" y="5369657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~$1M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90000" y="5369657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未公開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30000" y="5369657"/>
            <a:ext cx="223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ハードウェアは遅い→ポッドの優位性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8000" y="6120000"/>
            <a:ext cx="11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Hiragino Sans"/>
              </a:rPr>
              <a:t>※ Year 3（$14M ARR）で Series A バリュエーション目標：$140M（10x rev）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3つの収益ストリーム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20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3792000" cy="5436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000" y="990000"/>
            <a:ext cx="3792000" cy="827999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000" y="1062000"/>
            <a:ext cx="3648000" cy="7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Sans"/>
              </a:rPr>
              <a:t>PRIMARY
サブスクリプション
売上の70%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00" y="1907999"/>
            <a:ext cx="3612000" cy="442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月次ポッドBOX
スターター $35/月（15ポッド）
レギュラー $65/月（30ポッド）
プレミアム $95/月（45ポッド+粉末）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52000" y="990000"/>
            <a:ext cx="3792000" cy="543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52000" y="990000"/>
            <a:ext cx="3792000" cy="827999"/>
          </a:xfrm>
          <a:prstGeom prst="rect">
            <a:avLst/>
          </a:prstGeom>
          <a:solidFill>
            <a:srgbClr val="21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000" y="1062000"/>
            <a:ext cx="3648000" cy="7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Sans"/>
              </a:rPr>
              <a:t>SECONDARY
B2B フードサービス
売上の20%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0000" y="1907999"/>
            <a:ext cx="3612000" cy="442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Nespresso対応機器を持つカフェへ
バルクポッド供給
ASP $200〜300/月/アカウント
カフェ訓練コスト：ゼロ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6000" y="990000"/>
            <a:ext cx="3792000" cy="5436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6000" y="990000"/>
            <a:ext cx="3792000" cy="827999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8000" y="1062000"/>
            <a:ext cx="3648000" cy="7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Sans"/>
              </a:rPr>
              <a:t>TERTIARY
小売・Amazon
売上の10%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4000" y="1907999"/>
            <a:ext cx="3612000" cy="442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Amazon（発見チャネル）
Year2〜：Whole Foods / Target
段階的な小売展開
高マージンDTCを基盤にした交渉力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サブスクリプション ユニットエコノミクス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21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3792000" cy="2015999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000" y="990000"/>
            <a:ext cx="3792000" cy="7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DB86A"/>
                </a:solidFill>
                <a:latin typeface="Hiragino Sans"/>
              </a:rPr>
              <a:t>22x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LTV / CAC（業界ベンチマーク：8〜15x）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52000" y="990000"/>
            <a:ext cx="3792000" cy="2015999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52000" y="990000"/>
            <a:ext cx="3792000" cy="72000"/>
          </a:xfrm>
          <a:prstGeom prst="rect">
            <a:avLst/>
          </a:prstGeom>
          <a:solidFill>
            <a:srgbClr val="21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2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163D0"/>
                </a:solidFill>
                <a:latin typeface="Hiragino Sans"/>
              </a:rPr>
              <a:t>0.6ヶ月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投資回収期間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6000" y="990000"/>
            <a:ext cx="3792000" cy="201599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6000" y="990000"/>
            <a:ext cx="3792000" cy="72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6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0B429"/>
                </a:solidFill>
                <a:latin typeface="Hiragino Sans"/>
              </a:rPr>
              <a:t>63%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8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グロスマージン（ポッドボックス）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" y="3149999"/>
            <a:ext cx="11520000" cy="334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CAC（DTC混合、ソーシャル＋インフルエンサー＋リファラル）：$35
月次ARPU（レギュラープラン平均）：$65
LTV（12ヶ月・チャーン調整済み）：$780
月次チャーン率仮定：5%（プレミアム飲料サブスクのベンチマーク）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B2B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B2B フードサービス機会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22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90000"/>
            <a:ext cx="79200" cy="34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" y="1008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47"/>
                </a:solidFill>
                <a:latin typeface="Hiragino Sans"/>
              </a:rPr>
              <a:t>北米の抹茶消費の80%はカフェで行われている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22000"/>
            <a:ext cx="11520000" cy="50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米国カフェ数：200,000+。うち60,000+がNespresso互換機を所持
カフェの課題：抹茶追加には専用訓練・新機材・安定した調達が必要
私たちの解決：マシンは既にある → ポッドを買うだけ → 訓練コストゼロ
B2B 経済性：
・ASP：$200/月/カフェアカウント（100ポッド × $2）
・グロスマージン：45〜50%（マーケティングコストなし）
・Year 2 目標：1,000アカウント → $2.4M 追加ARR
・B2B チャーン：DTCより大幅に低い（月次発注の習慣定着）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フェーズ別 GTM 戦略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23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11700000" cy="1341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000" y="1026000"/>
            <a:ext cx="2817000" cy="128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フェーズ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5000" y="1026000"/>
            <a:ext cx="2817000" cy="128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期間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0" y="1026000"/>
            <a:ext cx="2817000" cy="128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5000" y="1026000"/>
            <a:ext cx="2817000" cy="128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目標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8000" y="2331000"/>
            <a:ext cx="11700000" cy="1341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8000" y="2331000"/>
            <a:ext cx="46800" cy="1341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000" y="2359800"/>
            <a:ext cx="2817000" cy="129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Phase 1
DTCローンチ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5000" y="2359800"/>
            <a:ext cx="2817000" cy="129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月1〜6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0" y="2359800"/>
            <a:ext cx="2817000" cy="129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Shopify + Amazon FBA
マイクロインフルエンサー50名
TikTok・Reddit コミュニティ構築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5000" y="2359800"/>
            <a:ext cx="2817000" cy="129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500 サブスクライバー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000" y="3672000"/>
            <a:ext cx="11700000" cy="134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0000" y="3700800"/>
            <a:ext cx="2817000" cy="129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Phase 2
B2B展開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95000" y="3700800"/>
            <a:ext cx="2817000" cy="129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月7〜18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0" y="3700800"/>
            <a:ext cx="2817000" cy="129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NYC・LA・SF・シカゴ・シアトルで
カフェパイロット開始
Whole Foods 商談開始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5000" y="3700800"/>
            <a:ext cx="2817000" cy="129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$3.9M ARR
500 B2B アカウント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000" y="5013000"/>
            <a:ext cx="11700000" cy="1341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8000" y="5013000"/>
            <a:ext cx="46800" cy="1341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5041800"/>
            <a:ext cx="2817000" cy="129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Phase 3
全国＋海外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95000" y="5041800"/>
            <a:ext cx="2817000" cy="129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Year 2〜3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0000" y="5041800"/>
            <a:ext cx="2817000" cy="129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Whole Foods / Target 上陸
英国・カナダ・オーストラリア展開
日本ローンチ検討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5000" y="5041800"/>
            <a:ext cx="2817000" cy="129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$14M ARR
国際展開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マーケティング戦略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24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90000"/>
            <a:ext cx="79200" cy="34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" y="1008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47"/>
                </a:solidFill>
                <a:latin typeface="Hiragino Sans"/>
              </a:rPr>
              <a:t>インフルエンサーファースト → コミュニティ → 信頼 → メガ規模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22000"/>
            <a:ext cx="11520000" cy="50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【インフルエンサー戦略：メガ &lt; マイクロ】
・50名のマイクロインフルエンサー（フォロワー5万〜50万）。エンゲージ率高・成本1/10
・健康・ウェルネス・生産性ニッチ。コーヒー→抹茶切り替えナラティブが最もバイラル
【コンテンツ戦略：教育が最強の武器】
・「なぜあなたの抹茶は苦いのか」（信頼構築・競合破壊）
・「農家からポッドへ」シリーズ（日本農家のストーリー）
・科学コンテンツ：L-テアニン研究を分かりやすく解説
・比較：「$2.17 vs Starbucks の $7 抹茶ラテ」
【コミュニティ戦略：Redditとディスコード】
・r/matchapods コミュニティを創設
・サブスクライバー専用 Discord（限定コンテンツ・早期新製品・農園アップデート）
・目標：Year 2 で新規獲得の30%がリファラル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CUSTOMER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Year 1 顧客獲得計算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25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3792000" cy="2015999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000" y="990000"/>
            <a:ext cx="3792000" cy="7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DB86A"/>
                </a:solidFill>
                <a:latin typeface="Hiragino Sans"/>
              </a:rPr>
              <a:t>$400K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Year 1 マーケティング予算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52000" y="990000"/>
            <a:ext cx="3792000" cy="2015999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52000" y="990000"/>
            <a:ext cx="3792000" cy="72000"/>
          </a:xfrm>
          <a:prstGeom prst="rect">
            <a:avLst/>
          </a:prstGeom>
          <a:solidFill>
            <a:srgbClr val="21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2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163D0"/>
                </a:solidFill>
                <a:latin typeface="Hiragino Sans"/>
              </a:rPr>
              <a:t>$35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ブレンドCAC 目標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6000" y="990000"/>
            <a:ext cx="3792000" cy="201599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6000" y="990000"/>
            <a:ext cx="3792000" cy="72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6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0B429"/>
                </a:solidFill>
                <a:latin typeface="Hiragino Sans"/>
              </a:rPr>
              <a:t>2,000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8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Year 1 末 アクティブサブスクライバー目標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" y="3149999"/>
            <a:ext cx="11520000" cy="334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マーケティング$400K → 新規5,000名獲得（5%月次チャーンで年末2,000名維持）
オーガニック・リファラルから追加 1,000名
Year 1 ARR：2,000 × $65 × 12ヶ月 = $1.56M（DTCサブスクのみ）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日本サプライチェーン詳細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26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11700000" cy="1015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000" y="1026000"/>
            <a:ext cx="2817000" cy="96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産地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5000" y="1026000"/>
            <a:ext cx="2817000" cy="96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特徴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0" y="1026000"/>
            <a:ext cx="2817000" cy="96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調達グレード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5000" y="1026000"/>
            <a:ext cx="2817000" cy="96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戦略的重要度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8000" y="2005200"/>
            <a:ext cx="11700000" cy="1015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8000" y="2005200"/>
            <a:ext cx="46800" cy="10152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000" y="20340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宇治（京都）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5000" y="20340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800年の権威。霧と寒暖差が最高品質を生む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0" y="20340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セレモニアル特A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5000" y="20340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★★★★★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000" y="3020400"/>
            <a:ext cx="11700000" cy="101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0000" y="30492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西尾（愛知）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95000" y="30492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全国抹茶生産量1位（20〜30%）。抹茶特化型産地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0" y="30492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セレモニアル〜プレミアム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5000" y="30492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★★★★☆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000" y="4035600"/>
            <a:ext cx="11700000" cy="1015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8000" y="4035600"/>
            <a:ext cx="46800" cy="10152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40644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鹿児島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95000" y="40644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2024年荒茶生産量全国1位。機械化・大規模化が進む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0000" y="40644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デイリー〜プレミアム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5000" y="40644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★★★★☆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000" y="5050800"/>
            <a:ext cx="11700000" cy="101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000" y="50796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八女（福岡）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95000" y="50796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全国品評会18年連続産地賞。山間の濃厚な旨味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0000" y="50796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超プレミアム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5000" y="5079600"/>
            <a:ext cx="2817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★★★☆☆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000" y="6120000"/>
            <a:ext cx="11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Hiragino Sans"/>
              </a:rPr>
              <a:t>※ 産地多様化でリスク分散。宇治産をフラッグシップ、鹿児島産をボリューム供給に設計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SUPPLY CHAIN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なぜサプライチェーンが最も強固な堀か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27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90000"/>
            <a:ext cx="79200" cy="34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" y="1008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47"/>
                </a:solidFill>
                <a:latin typeface="Hiragino Sans"/>
              </a:rPr>
              <a:t>抹茶において、ブランドより先にサプライチェーンを解決した者が勝つ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22000"/>
            <a:ext cx="11520000" cy="50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競合がお金でサプライチェーンを「買う」ことはできない：
   ・農家との信頼関係構築に3〜5年かかる
   ・プレミアム割当は実績と安定発注量が前提
   ・全契約書が日本語 → 言語・文化的参入障壁
私たちの戦略：
   ・今すぐ、危機の最中に農家関係を構築
   ・複数年購入契約でロック価格を確保（265%高騰から絶縁）
   ・農家の次世代支援プログラム（Farmer Forward）
Starbucksモデルとの類比：
   Starbucksが垂直統合的なコーヒー豆調達で競合を30年先行したように、
   私たちは日本産抹茶で同じ堀を今から構築する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ESG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Farmer Forward：日本の茶農家を支える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28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90000"/>
            <a:ext cx="79200" cy="34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" y="1008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47"/>
                </a:solidFill>
                <a:latin typeface="Hiragino Sans"/>
              </a:rPr>
              <a:t>ESGは私たちの最強のマーケティング資産であり、供給安定の保険でもある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22000"/>
            <a:ext cx="11520000" cy="50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【問題】
・日本の茶農家人口：2010年以降40%減少
・平均年齢：67歳以上。後継者危機
【Farmer Forward プログラム】
・市場価格以上での買取（農家に財務安定性を提供）
・複数年契約（農家が投資計画を立てられる）
・農家のプロフィール・ストーリーをパッケージ・ウェブサイトに掲載
・地元農業大学との連携で後継者育成を支援
・売上の1%を農村コミュニティ支援に充当
【投資家へのリターン】
・PR・メディア価値（サステナブルブランドとして差別化）
・チャーン低下（ミッション志向のサブスクライバーは長期継続）
・EU規制適合（欧州展開時のアドバンテージ）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FINANCIALS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5年間財務予測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29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11700000" cy="72514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000" y="1026000"/>
            <a:ext cx="1842000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0000" y="1026000"/>
            <a:ext cx="1842000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Year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0000" y="1026000"/>
            <a:ext cx="1842000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Year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0000" y="1026000"/>
            <a:ext cx="1842000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Year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0000" y="1026000"/>
            <a:ext cx="1842000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Year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0000" y="1026000"/>
            <a:ext cx="1842000" cy="6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Year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000" y="1715142"/>
            <a:ext cx="11700000" cy="72514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8000" y="1715142"/>
            <a:ext cx="46800" cy="725142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000" y="1743942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売上高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0000" y="1743942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$1.2M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0000" y="1743942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$4.8M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0000" y="1743942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$14.0M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0000" y="1743942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$32.0M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0000" y="1743942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$65.0M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8000" y="2440285"/>
            <a:ext cx="11700000" cy="72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0000" y="2469085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グロスマージン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0000" y="2469085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52%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0000" y="2469085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58%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0000" y="2469085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63%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0000" y="2469085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66%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0000" y="2469085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68%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000" y="3165428"/>
            <a:ext cx="11700000" cy="72514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8000" y="3165428"/>
            <a:ext cx="46800" cy="725142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" y="3194228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グロス利益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20000" y="3194228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$0.6M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0000" y="3194228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$2.8M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0000" y="3194228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$8.8M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70000" y="3194228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$21.1M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20000" y="3194228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$44.2M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8000" y="3890571"/>
            <a:ext cx="11700000" cy="72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0000" y="3919371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EBITDA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20000" y="3919371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-$1.8M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70000" y="3919371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-$0.6M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0000" y="3919371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+$3.1M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70000" y="3919371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+$9.4M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20000" y="3919371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+$18M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000" y="4615714"/>
            <a:ext cx="11700000" cy="72514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98000" y="4615714"/>
            <a:ext cx="46800" cy="725142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000" y="4644514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アクティブサブスク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20000" y="4644514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2,000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70000" y="4644514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8,000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0000" y="4644514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25,000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70000" y="4644514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55,000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20000" y="4644514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100,000+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8000" y="5340857"/>
            <a:ext cx="11700000" cy="72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0000" y="5369657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B2B アカウント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20000" y="5369657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200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70000" y="5369657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1,000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0000" y="5369657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2,500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70000" y="5369657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5,000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20000" y="5369657"/>
            <a:ext cx="1842000" cy="68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10,000+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8000" y="6120000"/>
            <a:ext cx="11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Hiragino Sans"/>
              </a:rPr>
              <a:t>※ Year 3（$14M）でEBITDAプラス転換。サブスク比率 65%+ で SaaS 並みの評価倍率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Year 3 収益構成（$14M）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30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3792000" cy="2015999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000" y="990000"/>
            <a:ext cx="3792000" cy="7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DB86A"/>
                </a:solidFill>
                <a:latin typeface="Hiragino Sans"/>
              </a:rPr>
              <a:t>65%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サブスクリプション（$9.1M）高 LTV・予測可能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52000" y="990000"/>
            <a:ext cx="3792000" cy="2015999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52000" y="990000"/>
            <a:ext cx="3792000" cy="72000"/>
          </a:xfrm>
          <a:prstGeom prst="rect">
            <a:avLst/>
          </a:prstGeom>
          <a:solidFill>
            <a:srgbClr val="21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2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163D0"/>
                </a:solidFill>
                <a:latin typeface="Hiragino Sans"/>
              </a:rPr>
              <a:t>22%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B2B フードサービス（$3.1M）低マーケコスト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6000" y="990000"/>
            <a:ext cx="3792000" cy="201599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6000" y="990000"/>
            <a:ext cx="3792000" cy="72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6000" y="1098000"/>
            <a:ext cx="37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0B429"/>
                </a:solidFill>
                <a:latin typeface="Hiragino Sans"/>
              </a:rPr>
              <a:t>13%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8000" y="2106000"/>
            <a:ext cx="3648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Hiragino Sans"/>
              </a:rPr>
              <a:t>小売・Amazon（$1.8M）ブランド認知・発見チャネル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" y="3149999"/>
            <a:ext cx="11520000" cy="334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65%以上の経常収益 → SaaS並みのバリュエーション倍率を正当化
B2B収益はチャーンが極低（月次発注習慣化で継続率95%+）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PATH TO 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収益化への道筋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31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90000"/>
            <a:ext cx="79200" cy="34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" y="1008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47"/>
                </a:solidFill>
                <a:latin typeface="Hiragino Sans"/>
              </a:rPr>
              <a:t>ユニット経済性は初日から黒字（LTV/CAC = 22x）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22000"/>
            <a:ext cx="11520000" cy="50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・会社全体の EBITDA 黒字転換：月18〜24（$3M Seed 使用後）
・Year 3 $14M 売上：EBITDA +$3.1M（マージン 22%）
【利益率改善の3レバー】
① OEM 製造コスト逓減：発注量増加でポッドCOGS が $0.85 → $0.55 へ
② マーケティング効率向上：オーガニック・リファラルが拡大し CAC が $35 → $20 へ
③ B2B の高貢献：マーケコスト0のB2B売上がミックスに占める比率上昇
【不採算顧客を抱えない設計】
サブスクモデルはユニット経済性を事前に把握可能。
LTV/CAC 22x = 投資した$1が$22のリターンを生む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資金使途：$3M シードラウンド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32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11700000" cy="894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000" y="1026000"/>
            <a:ext cx="2817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カテゴリ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5000" y="1026000"/>
            <a:ext cx="2817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金額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0" y="1026000"/>
            <a:ext cx="2817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比率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5000" y="1026000"/>
            <a:ext cx="2817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内訳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8000" y="1884000"/>
            <a:ext cx="11700000" cy="894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8000" y="1884000"/>
            <a:ext cx="46800" cy="89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000" y="1912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製品開発・OEM 設立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5000" y="1912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$800K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0" y="1912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27%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5000" y="1912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カプセル処方・テスト $200K
OEM工場初回セットアップ $400K
ISO認証・品質テスト $200K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000" y="2778000"/>
            <a:ext cx="11700000" cy="8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0000" y="2806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在庫・サプライチェーン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95000" y="2806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$700K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0" y="2806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23%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5000" y="2806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農家との前払い契約 $400K
倉庫設立・6ヶ月在庫バッファ $300K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000" y="3672000"/>
            <a:ext cx="11700000" cy="894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8000" y="3672000"/>
            <a:ext cx="46800" cy="89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3700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マーケティング・成長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95000" y="3700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$800K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0000" y="3700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27%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5000" y="3700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インフルエンサー・コンテンツ $300K
有料ソーシャル（TikTok・IG）$300K
PR・コミュニティ構築 $200K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000" y="4566000"/>
            <a:ext cx="11700000" cy="8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000" y="4594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チーム採用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95000" y="4594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$500K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0000" y="4594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17%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5000" y="4594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サプライチェーン責任者 $180K
成長・マーケ責任者 $150K
CS リード $100K・その他 $70K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8000" y="5460000"/>
            <a:ext cx="11700000" cy="894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8000" y="5460000"/>
            <a:ext cx="46800" cy="89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" y="5488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オペレーション・法務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95000" y="5488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$200K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0000" y="5488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45000" y="5488800"/>
            <a:ext cx="2817000" cy="85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法務（IP・契約・サブスク利用規約）$80K
システム・コンプライアンス $120K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マイルストーン：$3M で達成すること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33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11700000" cy="846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000" y="1026000"/>
            <a:ext cx="379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時期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0000" y="1026000"/>
            <a:ext cx="379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マイルストーン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0000" y="1026000"/>
            <a:ext cx="379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目標指標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000" y="1836000"/>
            <a:ext cx="11700000" cy="846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8000" y="1836000"/>
            <a:ext cx="46800" cy="846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000" y="1864800"/>
            <a:ext cx="3792000" cy="80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Month 1〜3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0000" y="1864800"/>
            <a:ext cx="3792000" cy="80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OEM確定・農家契約締結
Shopify＋サブスクプラットフォーム構築
インフルエンサー50名シーディング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0000" y="1864800"/>
            <a:ext cx="3792000" cy="80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農家MOU締結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000" y="2682000"/>
            <a:ext cx="117000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2710800"/>
            <a:ext cx="3792000" cy="80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Month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0000" y="2710800"/>
            <a:ext cx="3792000" cy="80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製品ローンチ（Shopify DTC + Amazon FBA）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0000" y="2710800"/>
            <a:ext cx="3792000" cy="80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初販売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000" y="3528000"/>
            <a:ext cx="11700000" cy="846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8000" y="3528000"/>
            <a:ext cx="46800" cy="846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000" y="3556800"/>
            <a:ext cx="3792000" cy="80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Month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0000" y="3556800"/>
            <a:ext cx="3792000" cy="80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B2B パイロット開始（5都市）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0000" y="3556800"/>
            <a:ext cx="3792000" cy="80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500 サブスクライバー
$390K ARR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8000" y="4374000"/>
            <a:ext cx="117000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000" y="4402800"/>
            <a:ext cx="3792000" cy="80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Month 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0000" y="4402800"/>
            <a:ext cx="3792000" cy="80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Amazon 抹茶ポッドカテゴリ TOP 5
Whole Foods 商談開始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0000" y="4402800"/>
            <a:ext cx="3792000" cy="80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2,000 サブスク
$1.56M ARR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000" y="5220000"/>
            <a:ext cx="11700000" cy="846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8000" y="5220000"/>
            <a:ext cx="46800" cy="846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" y="5248800"/>
            <a:ext cx="3792000" cy="80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Month 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70000" y="5248800"/>
            <a:ext cx="3792000" cy="80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Series A 準備完了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0000" y="5248800"/>
            <a:ext cx="3792000" cy="80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5,000 サブスク
$3.9M ARR
500 B2B アカウント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000" y="6120000"/>
            <a:ext cx="11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Hiragino Sans"/>
              </a:rPr>
              <a:t>※ Series A 目標：$8〜12M を $40〜60M pre-money で調達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KPI ダッシュボード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34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" y="990000"/>
            <a:ext cx="11700000" cy="596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000" y="1026000"/>
            <a:ext cx="2817000" cy="5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KPI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5000" y="1026000"/>
            <a:ext cx="2817000" cy="5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Year 1 目標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0" y="1026000"/>
            <a:ext cx="2817000" cy="5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Year 3 目標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5000" y="1026000"/>
            <a:ext cx="2817000" cy="5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ベンチマーク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8000" y="1586000"/>
            <a:ext cx="11700000" cy="596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8000" y="1586000"/>
            <a:ext cx="46800" cy="596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000" y="1614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アクティブサブスクライバー数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5000" y="1614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2,000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0" y="1614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25,000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5000" y="1614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000" y="2182000"/>
            <a:ext cx="11700000" cy="5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0000" y="2210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MRR / ARR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95000" y="2210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$130K / $1.56M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0" y="2210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$950K / $11.4M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5000" y="2210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000" y="2778000"/>
            <a:ext cx="11700000" cy="596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8000" y="2778000"/>
            <a:ext cx="46800" cy="596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2806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月次グロスチャーン率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95000" y="2806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&lt; 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0000" y="2806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&lt; 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5000" y="2806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業界平均 7〜10%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000" y="3374000"/>
            <a:ext cx="11700000" cy="5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000" y="3402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Net Revenue Retention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95000" y="3402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&gt; 105%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0000" y="3402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&gt; 115%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5000" y="3402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優秀 SaaS &gt; 110%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8000" y="3970000"/>
            <a:ext cx="11700000" cy="596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8000" y="3970000"/>
            <a:ext cx="46800" cy="596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" y="3998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ブレンドCAC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95000" y="3998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&lt; $40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0000" y="3998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&lt; $20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45000" y="3998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8000" y="4566000"/>
            <a:ext cx="11700000" cy="5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4594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LTV / CAC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95000" y="4594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&gt; 15x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0000" y="4594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&gt; 30x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45000" y="4594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業界ベンチマーク 8〜15x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8000" y="5162000"/>
            <a:ext cx="11700000" cy="596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98000" y="5162000"/>
            <a:ext cx="46800" cy="596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0000" y="5190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B2B アカウント数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95000" y="5190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200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0000" y="5190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2,500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45000" y="5190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8000" y="5758000"/>
            <a:ext cx="11700000" cy="5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" y="5786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グロスマージン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95000" y="5786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52%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0000" y="5786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63%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45000" y="5786800"/>
            <a:ext cx="2817000" cy="5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Hiragino Sans"/>
              </a:rPr>
              <a:t>DTC飲料 平均 50〜60%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ビジョン：抹茶を超えたプラットフォームへ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35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90000"/>
            <a:ext cx="79200" cy="34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" y="1008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47"/>
                </a:solidFill>
                <a:latin typeface="Hiragino Sans"/>
              </a:rPr>
              <a:t>Year 5+：「日本産ウェルネス飲料の Nespresso」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22000"/>
            <a:ext cx="11520000" cy="50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【Year 1〜3：北米 No.1 抹茶サブスクブランドの確立】
・Nespresso対応抹茶ポッドで北米カテゴリを独占
【Year 3〜5：製品ライン拡張】
・ほうじ茶ポッド・玉露ポッド・アダプトゲン×抹茶ブレンド
・機能性ラインナップ（抹茶 + Lion's Mane + L-テアニン）
【Year 5+：プラットフォーム化】
・日本産プレミアム原料の調達プラットフォームとしてライセンス提供
・カフェ向けポッドのホワイトラベル
・日本産プレミアム食材の西洋向け総合ゲートウェイ
【長期Exit シナリオ】
・Nestle（Nespresso親会社）による戦略的買収
・Keurig Dr Pepper・AB InBev・伊藤園・サントリー
・$200M+ 売上到達後の IPO パス（AG1 モデル）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UNFAIR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5つの不公平な優位性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36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90000"/>
            <a:ext cx="79200" cy="34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" y="1008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47"/>
                </a:solidFill>
                <a:latin typeface="Hiragino Sans"/>
              </a:rPr>
              <a:t>これらは短期間では複製できない構造的優位性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22000"/>
            <a:ext cx="11520000" cy="50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① タイミング：需要は爆発、供給は追いつかない。今が先行者優位を獲得する最後のウィンドウ
② フォーマット革新：ポッドは採用の最大障壁（準備の複雑さ）を完全に排除する
③ サプライチェーン堀：日本農家との関係は数年かけて構築される。お金では買えない
④ 既存インフラ活用：3,000万台のNespressoマシン = ハードウェアリスクゼロ
⑤ 実証済みモデル：PerfectTedが同一モデルを英国で成功実証済み。私たちはより大きな市場で再現する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B42"/>
            </a:gs>
            <a:gs pos="100000">
              <a:srgbClr val="05091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00952" y="-1710000"/>
            <a:ext cx="6840000" cy="6840000"/>
          </a:xfrm>
          <a:prstGeom prst="ellipse">
            <a:avLst/>
          </a:prstGeom>
          <a:solidFill>
            <a:srgbClr val="0B2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90000" y="4482000"/>
            <a:ext cx="3960000" cy="3960000"/>
          </a:xfrm>
          <a:prstGeom prst="ellipse">
            <a:avLst/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8000" y="125999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B429"/>
                </a:solidFill>
                <a:latin typeface="Hiragino Sans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360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Hiragino Sans"/>
              </a:rPr>
              <a:t>調達内容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000" y="1080000"/>
            <a:ext cx="11340000" cy="252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8000" y="1152000"/>
            <a:ext cx="3660000" cy="1728000"/>
          </a:xfrm>
          <a:prstGeom prst="rect">
            <a:avLst/>
          </a:prstGeom>
          <a:solidFill>
            <a:srgbClr val="0B2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8000" y="1152000"/>
            <a:ext cx="3660000" cy="648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260000"/>
            <a:ext cx="366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0B429"/>
                </a:solidFill>
                <a:latin typeface="Hiragino Sans"/>
              </a:rPr>
              <a:t>$3M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196000"/>
            <a:ext cx="3516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DB86A"/>
                </a:solidFill>
                <a:latin typeface="Hiragino Sans"/>
              </a:rPr>
              <a:t>シードラウンド調達額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0000" y="1152000"/>
            <a:ext cx="3660000" cy="1728000"/>
          </a:xfrm>
          <a:prstGeom prst="rect">
            <a:avLst/>
          </a:prstGeom>
          <a:solidFill>
            <a:srgbClr val="0B2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0000" y="1152000"/>
            <a:ext cx="3660000" cy="648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0000" y="1260000"/>
            <a:ext cx="366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0B429"/>
                </a:solidFill>
                <a:latin typeface="Hiragino Sans"/>
              </a:rPr>
              <a:t>$12M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2000" y="2196000"/>
            <a:ext cx="3516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DB86A"/>
                </a:solidFill>
                <a:latin typeface="Hiragino Sans"/>
              </a:rPr>
              <a:t>プレマネーバリュエーション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2000" y="1152000"/>
            <a:ext cx="3660000" cy="1728000"/>
          </a:xfrm>
          <a:prstGeom prst="rect">
            <a:avLst/>
          </a:prstGeom>
          <a:solidFill>
            <a:srgbClr val="0B2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2000" y="1152000"/>
            <a:ext cx="3660000" cy="648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2000" y="1260000"/>
            <a:ext cx="366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0B429"/>
                </a:solidFill>
                <a:latin typeface="Hiragino Sans"/>
              </a:rPr>
              <a:t>18ヶ月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4000" y="2196000"/>
            <a:ext cx="3516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DB86A"/>
                </a:solidFill>
                <a:latin typeface="Hiragino Sans"/>
              </a:rPr>
              <a:t>ランウェイ → $4.8M ARR → Series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" y="3024000"/>
            <a:ext cx="111600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5B5"/>
                </a:solidFill>
                <a:latin typeface="Hiragino Sans"/>
              </a:rPr>
              <a:t>リード投資家：$1.5M 募集中
クロージング目標：2026年Q2
投資形態：SAFE または プライスドラウンド（優先株）
ボード構成：創業者コントロール ＋ 投資家1席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95B5"/>
                </a:solidFill>
                <a:latin typeface="Hiragino Sans"/>
              </a:rPr>
              <a:t>37 / 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6000" y="6660000"/>
            <a:ext cx="6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5B5"/>
                </a:solidFill>
                <a:latin typeface="Hiragino Sans"/>
              </a:rPr>
              <a:t>[COMPANY]  ·  Confidential  · 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68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"/>
            <a:ext cx="79200" cy="864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792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7A47"/>
                </a:solidFill>
                <a:latin typeface="Hiragino Sans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288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Hiragino Sans"/>
              </a:rPr>
              <a:t>チーム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Hiragino Sans"/>
              </a:rPr>
              <a:t>38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6660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Hiragino Sans"/>
              </a:rPr>
              <a:t>[COMPANY]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90000"/>
            <a:ext cx="79200" cy="342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000" y="1008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47"/>
                </a:solidFill>
                <a:latin typeface="Hiragino Sans"/>
              </a:rPr>
              <a:t>日本の文化的真正性 × シリコンバレーの流通ノウハウ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22000"/>
            <a:ext cx="11520000" cy="50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Hiragino Sans"/>
              </a:rPr>
              <a:t>CEO / Co-Founder：[氏名] — [バックグラウンド]
COO / Co-Founder：[氏名] — サプライチェーン / 日本オペレーション経験
【アドバイザー】
・日本茶業界エキスパート：[氏名]
・CPG / 飲料業界エグゼクティブ：[氏名]
・DTCサブスクリプション専門家：[氏名]
【求めるもの（チームビルディング中）】
・Head of Supply Chain / Japan Operations
・Head of Growth / Marketing（DTC サブスク経験必須）
・Customer Experience Lead
※ このスライドは最も重要。投資判断の決め手になる。
  投資家ミーティング前に実名・具体的経歴を必ず記載すること。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B42"/>
            </a:gs>
            <a:gs pos="100000">
              <a:srgbClr val="05091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00952" y="-1710000"/>
            <a:ext cx="6840000" cy="6840000"/>
          </a:xfrm>
          <a:prstGeom prst="ellipse">
            <a:avLst/>
          </a:prstGeom>
          <a:solidFill>
            <a:srgbClr val="0B2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90000" y="4482000"/>
            <a:ext cx="3960000" cy="3960000"/>
          </a:xfrm>
          <a:prstGeom prst="ellipse">
            <a:avLst/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8000" y="125999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B86A"/>
                </a:solidFill>
                <a:latin typeface="Hiragino Sans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360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Hiragino Sans"/>
              </a:rPr>
              <a:t>今こそ、私たちこそ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000" y="1080000"/>
            <a:ext cx="11340000" cy="25200"/>
          </a:xfrm>
          <a:prstGeom prst="rect">
            <a:avLst/>
          </a:prstGeom>
          <a:solidFill>
            <a:srgbClr val="1D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188000"/>
            <a:ext cx="1116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5B5"/>
                </a:solidFill>
                <a:latin typeface="Hiragino Sans"/>
              </a:rPr>
              <a:t>✓  市場：$4.3B → $8.9B（CAGR 7.8%）。北米は CAGR 11% で最速成長
✓  競合：北米の抹茶ポッド市場は競合ゼロ
✓  証明：PerfectTed が同一モデルで CAGR 532%・£140M バリュエーションを達成
✓  緊急性：供給危機により先行者優位は今しか獲得できない
✓  経済性：サブスクリプションで LTV/CAC 22x・予測可能な経常収益
私たちは抹茶をコーヒーと並ぶカフェイン選択肢として確立する。
その入口は、既に3,000万人の家にある机の上にある。
《 The Nespresso of Matcha 》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000" y="6623999"/>
            <a:ext cx="11700000" cy="18000"/>
          </a:xfrm>
          <a:prstGeom prst="rect">
            <a:avLst/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0000" y="66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95B5"/>
                </a:solidFill>
                <a:latin typeface="Hiragino Sans"/>
              </a:rPr>
              <a:t>39 / 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" y="6660000"/>
            <a:ext cx="6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5B5"/>
                </a:solidFill>
                <a:latin typeface="Hiragino Sans"/>
              </a:rPr>
              <a:t>[COMPANY]  ·  Confidential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